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22"/>
    <p:restoredTop sz="94620"/>
  </p:normalViewPr>
  <p:slideViewPr>
    <p:cSldViewPr snapToGrid="0" snapToObjects="1">
      <p:cViewPr varScale="1">
        <p:scale>
          <a:sx n="214" d="100"/>
          <a:sy n="214" d="100"/>
        </p:scale>
        <p:origin x="306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04672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dirty="0" err="1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</a:t>
            </a:r>
            <a:r>
              <a:rPr sz="2800" b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 err="1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веб-приложения</a:t>
            </a:r>
            <a:r>
              <a:rPr sz="2800" b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 err="1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sz="2800" b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 err="1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учёта</a:t>
            </a:r>
            <a:r>
              <a:rPr sz="2800" b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 err="1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спортивных</a:t>
            </a:r>
            <a:r>
              <a:rPr sz="2800" b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 err="1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достижений</a:t>
            </a:r>
            <a:r>
              <a:rPr sz="2800" b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
</a:t>
            </a:r>
            <a:r>
              <a:rPr sz="2800" b="1" dirty="0" err="1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обучающихся</a:t>
            </a:r>
            <a:r>
              <a:rPr sz="2800" b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 err="1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sz="2800" b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 err="1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уроках</a:t>
            </a:r>
            <a:r>
              <a:rPr sz="2800" b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 err="1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физической</a:t>
            </a:r>
            <a:r>
              <a:rPr sz="2800" b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 err="1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культуры</a:t>
            </a:r>
            <a:r>
              <a:rPr sz="2800" b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 err="1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sz="2800" b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 err="1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школе</a:t>
            </a:r>
            <a:endParaRPr sz="2800" b="1" dirty="0">
              <a:solidFill>
                <a:srgbClr val="1E293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sz="2800" b="1" dirty="0">
              <a:solidFill>
                <a:srgbClr val="1E293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sz="2000" b="0" dirty="0">
              <a:solidFill>
                <a:srgbClr val="64748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55;p13">
            <a:extLst>
              <a:ext uri="{FF2B5EF4-FFF2-40B4-BE49-F238E27FC236}">
                <a16:creationId xmlns:a16="http://schemas.microsoft.com/office/drawing/2014/main" id="{8B3081A4-2C69-EBAC-3223-5810D39AC2EE}"/>
              </a:ext>
            </a:extLst>
          </p:cNvPr>
          <p:cNvSpPr txBox="1">
            <a:spLocks/>
          </p:cNvSpPr>
          <p:nvPr/>
        </p:nvSpPr>
        <p:spPr>
          <a:xfrm>
            <a:off x="4572000" y="3429000"/>
            <a:ext cx="4408800" cy="27431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54610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Выполнил</a:t>
            </a:r>
            <a:r>
              <a:rPr lang="ru-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</a:p>
          <a:p>
            <a:pPr marL="0" marR="54610" indent="0">
              <a:lnSpc>
                <a:spcPct val="115000"/>
              </a:lnSpc>
              <a:spcBef>
                <a:spcPts val="43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студент 4 курса</a:t>
            </a:r>
          </a:p>
          <a:p>
            <a:pPr marL="0" marR="54610" indent="0">
              <a:lnSpc>
                <a:spcPct val="115000"/>
              </a:lnSpc>
              <a:spcBef>
                <a:spcPts val="43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09.03.01 Информатика и вычислительная техника, Технологии разработки программного  обеспечения</a:t>
            </a:r>
          </a:p>
          <a:p>
            <a:pPr marL="0" marR="54610" indent="0">
              <a:lnSpc>
                <a:spcPct val="115000"/>
              </a:lnSpc>
              <a:spcBef>
                <a:spcPts val="43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Славный Даниил Михайлович</a:t>
            </a:r>
          </a:p>
          <a:p>
            <a:pPr marL="0" marR="54610" indent="0">
              <a:lnSpc>
                <a:spcPct val="115000"/>
              </a:lnSpc>
              <a:spcBef>
                <a:spcPts val="43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Руководитель</a:t>
            </a:r>
            <a:r>
              <a:rPr lang="ru-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</a:p>
          <a:p>
            <a:pPr marL="0" marR="54610" indent="0">
              <a:lnSpc>
                <a:spcPct val="115000"/>
              </a:lnSpc>
              <a:spcBef>
                <a:spcPts val="43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Старший преподаватель кафедры </a:t>
            </a:r>
            <a:r>
              <a:rPr lang="ru-RU" sz="1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ИТиЭО</a:t>
            </a:r>
            <a:r>
              <a:rPr lang="ru-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br>
              <a:rPr lang="ru-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-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Аксютин Павел Александрович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8138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Актуальность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7955279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E293B"/>
                </a:solidFill>
                <a:latin typeface="Calibri"/>
              </a:rPr>
              <a:t>Цифровизация школы не закрывает предметные задачи учителя ФК.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E293B"/>
                </a:solidFill>
                <a:latin typeface="Calibri"/>
              </a:rPr>
              <a:t>Нормативный контроль 1–4 классов ведётся по отдельным таблицам Excel.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E293B"/>
                </a:solidFill>
                <a:latin typeface="Calibri"/>
              </a:rPr>
              <a:t>Электронные журналы («Дневник.ru», «Сферум») не считают баллы по ПЕ-нормативам.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E293B"/>
                </a:solidFill>
                <a:latin typeface="Calibri"/>
              </a:rPr>
              <a:t>Нужен узкий веб-инструмент: журнал, авторасчёт, рейтинги, турниры.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8138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Цель, объект и предмет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7955279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E293B"/>
                </a:solidFill>
                <a:latin typeface="Calibri"/>
              </a:rPr>
              <a:t>Объект: процессы учёта нормативного контроля по ФК в начальной школе.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E293B"/>
                </a:solidFill>
                <a:latin typeface="Calibri"/>
              </a:rPr>
              <a:t>Предмет: методы автоматизации расчёта баллов, журнала и турниров в веб-среде.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E293B"/>
                </a:solidFill>
                <a:latin typeface="Calibri"/>
              </a:rPr>
              <a:t>Цель: разработать веб-приложение «Школьный журнал ФК» для учеников 1–4 классов.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E293B"/>
                </a:solidFill>
                <a:latin typeface="Calibri"/>
              </a:rPr>
              <a:t>Результат: автоматическое начисление очков, рейтинги, турниры на выбывание.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8138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Задачи исследования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7955279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Calibri"/>
              </a:rPr>
              <a:t>Все задачи выполнены, цель достигнута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E293B"/>
                </a:solidFill>
                <a:latin typeface="Calibri"/>
              </a:rPr>
              <a:t>1. Анализ литературы, нормативных документов и программных аналогов.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E293B"/>
                </a:solidFill>
                <a:latin typeface="Calibri"/>
              </a:rPr>
              <a:t>2. Обоснование технологий с учётом конфиденциальности и условий школы.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E293B"/>
                </a:solidFill>
                <a:latin typeface="Calibri"/>
              </a:rPr>
              <a:t>3. Проектирование модели, архитектуры, данных и сценариев.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E293B"/>
                </a:solidFill>
                <a:latin typeface="Calibri"/>
              </a:rPr>
              <a:t>4. Реализация, развёртывание на сервере и апробация.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8138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Сравнение с аналогами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05840"/>
          <a:ext cx="8412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2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Критерий</a:t>
                      </a:r>
                    </a:p>
                  </a:txBody>
                  <a:tcPr>
                    <a:solidFill>
                      <a:srgbClr val="1A5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Excel</a:t>
                      </a:r>
                    </a:p>
                  </a:txBody>
                  <a:tcPr>
                    <a:solidFill>
                      <a:srgbClr val="1A5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Эл. журнал</a:t>
                      </a:r>
                    </a:p>
                  </a:txBody>
                  <a:tcPr>
                    <a:solidFill>
                      <a:srgbClr val="1A5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Облачные таблицы</a:t>
                      </a:r>
                    </a:p>
                  </a:txBody>
                  <a:tcPr>
                    <a:solidFill>
                      <a:srgbClr val="1A5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«Школьный журнал ФК»</a:t>
                      </a:r>
                    </a:p>
                  </a:txBody>
                  <a:tcPr>
                    <a:solidFill>
                      <a:srgbClr val="1A5F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93B"/>
                          </a:solidFill>
                          <a:latin typeface="Calibri"/>
                        </a:rPr>
                        <a:t>Нормативы 1–4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Формулы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Не ПЕ-нормативы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Вручную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Авто по 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93B"/>
                          </a:solidFill>
                          <a:latin typeface="Calibri"/>
                        </a:rPr>
                        <a:t>Турнирные сетки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Нет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Нет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Вручную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Да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93B"/>
                          </a:solidFill>
                          <a:latin typeface="Calibri"/>
                        </a:rPr>
                        <a:t>Рейтинг параллели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Вручную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Ограниченно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Вручную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Топ-5 м/ж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93B"/>
                          </a:solidFill>
                          <a:latin typeface="Calibri"/>
                        </a:rPr>
                        <a:t>ПДн на сервере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Локально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Сервер школы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Облако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localStorage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06908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5F8C"/>
                </a:solidFill>
                <a:latin typeface="Calibri"/>
              </a:rPr>
              <a:t>Вывод: узкий предметный инструмент для учителя ФК начальной школы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8138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Технологический стек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7955279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E293B"/>
                </a:solidFill>
                <a:latin typeface="Calibri"/>
              </a:rPr>
              <a:t>Сервер: Python 3, Flask — раздача шаблона и статики.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E293B"/>
                </a:solidFill>
                <a:latin typeface="Calibri"/>
              </a:rPr>
              <a:t>Клиент: HTML, CSS, JavaScript (без тяжёлых SPA-фреймворков).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E293B"/>
                </a:solidFill>
                <a:latin typeface="Calibri"/>
              </a:rPr>
              <a:t>Данные: norms.json (нормативы), localStorage (классы, ученики, турниры).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E293B"/>
                </a:solidFill>
                <a:latin typeface="Calibri"/>
              </a:rPr>
              <a:t>Развёртывание: Gunicorn + Nginx на сервере образовательной организации.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E293B"/>
                </a:solidFill>
                <a:latin typeface="Calibri"/>
              </a:rPr>
              <a:t>ПДн учеников на сервер не передаются — хранение в браузере учителя.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8138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Архитектура и модули</a:t>
            </a:r>
          </a:p>
        </p:txBody>
      </p:sp>
      <p:sp>
        <p:nvSpPr>
          <p:cNvPr id="4" name="Rectangle 3"/>
          <p:cNvSpPr/>
          <p:nvPr/>
        </p:nvSpPr>
        <p:spPr>
          <a:xfrm>
            <a:off x="2926080" y="1097280"/>
            <a:ext cx="3474720" cy="594360"/>
          </a:xfrm>
          <a:prstGeom prst="rect">
            <a:avLst/>
          </a:prstGeom>
          <a:solidFill>
            <a:srgbClr val="1A5F8C"/>
          </a:solidFill>
          <a:ln>
            <a:solidFill>
              <a:srgbClr val="1A5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Браузер учителя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3657600" cy="594360"/>
          </a:xfrm>
          <a:prstGeom prst="rect">
            <a:avLst/>
          </a:prstGeom>
          <a:solidFill>
            <a:srgbClr val="E8F4FC"/>
          </a:solidFill>
          <a:ln>
            <a:solidFill>
              <a:srgbClr val="1A5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293B"/>
                </a:solidFill>
                <a:latin typeface="Calibri"/>
              </a:rPr>
              <a:t>app.js · scoring.js · tournaments.js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651760"/>
            <a:ext cx="3657600" cy="594360"/>
          </a:xfrm>
          <a:prstGeom prst="rect">
            <a:avLst/>
          </a:prstGeom>
          <a:solidFill>
            <a:srgbClr val="E8F4FC"/>
          </a:solidFill>
          <a:ln>
            <a:solidFill>
              <a:srgbClr val="1A5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293B"/>
                </a:solidFill>
                <a:latin typeface="Calibri"/>
              </a:rPr>
              <a:t>localStorage (классы, ученики, турниры)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1828800"/>
            <a:ext cx="3657600" cy="594360"/>
          </a:xfrm>
          <a:prstGeom prst="rect">
            <a:avLst/>
          </a:prstGeom>
          <a:solidFill>
            <a:srgbClr val="E8F4FC"/>
          </a:solidFill>
          <a:ln>
            <a:solidFill>
              <a:srgbClr val="1A5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293B"/>
                </a:solidFill>
                <a:latin typeface="Calibri"/>
              </a:rPr>
              <a:t>norms.json (нормативы 1–4)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3474720"/>
            <a:ext cx="3474720" cy="594360"/>
          </a:xfrm>
          <a:prstGeom prst="rect">
            <a:avLst/>
          </a:prstGeom>
          <a:solidFill>
            <a:srgbClr val="0F4C75"/>
          </a:solidFill>
          <a:ln>
            <a:solidFill>
              <a:srgbClr val="1A5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Flask (Python)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297680"/>
            <a:ext cx="3657600" cy="594360"/>
          </a:xfrm>
          <a:prstGeom prst="rect">
            <a:avLst/>
          </a:prstGeom>
          <a:solidFill>
            <a:srgbClr val="F1F5F9"/>
          </a:solidFill>
          <a:ln>
            <a:solidFill>
              <a:srgbClr val="1A5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E293B"/>
                </a:solidFill>
                <a:latin typeface="Calibri"/>
              </a:rPr>
              <a:t>HTML · CSS · статика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5029200"/>
            <a:ext cx="3657600" cy="594360"/>
          </a:xfrm>
          <a:prstGeom prst="rect">
            <a:avLst/>
          </a:prstGeom>
          <a:solidFill>
            <a:srgbClr val="F1F5F9"/>
          </a:solidFill>
          <a:ln>
            <a:solidFill>
              <a:srgbClr val="1A5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293B"/>
                </a:solidFill>
                <a:latin typeface="Calibri"/>
              </a:rPr>
              <a:t>Nginx + Gunicorn (школьный сервер)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66928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Calibri"/>
              </a:rPr>
              <a:t>Тонкий сервер — толстый клиент; журнальные данные на сервер не передаются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8138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Интерфейс приложения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7955279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Calibri"/>
              </a:rPr>
              <a:t>Веб-приложение «Школьный журнал ФК»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E293B"/>
                </a:solidFill>
                <a:latin typeface="Calibri"/>
              </a:rPr>
              <a:t>Единая страница с навигацией: Главная · Классы · Журнал · Турниры.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E293B"/>
                </a:solidFill>
                <a:latin typeface="Calibri"/>
              </a:rPr>
              <a:t>Далее — скриншоты всех разделов с демонстрационными данными.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5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Раздел «Главная»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749808"/>
            <a:ext cx="5623560" cy="5806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1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95665"/>
            <a:ext cx="5623560" cy="351472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80760" y="822960"/>
            <a:ext cx="2743200" cy="56692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0" y="960120"/>
            <a:ext cx="24688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5F8C"/>
                </a:solidFill>
                <a:latin typeface="Calibri"/>
              </a:rPr>
              <a:t>Описание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• Сводка: число классов и учеников.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• Рейтинг топ-5 мальчиков и девочек по параллели (1–4).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• Быстрый обзор успеваемости между классами.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5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Раздел «Классы»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749808"/>
            <a:ext cx="5623560" cy="5806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2_cl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95665"/>
            <a:ext cx="5623560" cy="351472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80760" y="822960"/>
            <a:ext cx="2743200" cy="56692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0" y="960120"/>
            <a:ext cx="24688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5F8C"/>
                </a:solidFill>
                <a:latin typeface="Calibri"/>
              </a:rPr>
              <a:t>Описание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• Создание классов (1А, 2Б…) с указанием параллели.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• Список учеников: ФИО, пол, номер в журнале.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• Параллель определяет таблицу нормативов.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5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Раздел «Журнал»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749808"/>
            <a:ext cx="5623560" cy="5806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3_jour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95665"/>
            <a:ext cx="5623560" cy="351472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80760" y="822960"/>
            <a:ext cx="2743200" cy="56692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0" y="960120"/>
            <a:ext cx="24688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5F8C"/>
                </a:solidFill>
                <a:latin typeface="Calibri"/>
              </a:rPr>
              <a:t>Описание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• Ввод результатов по 7 дисциплинам.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• Автоматический расчёт очков по norms.json.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• Рейтинг м/ж внутри класса; кнопка «PDF».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5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Раздел «Турниры»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694944"/>
            <a:ext cx="4160520" cy="41605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4a_tournaments_prog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28733"/>
            <a:ext cx="4160520" cy="409294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663440" y="694944"/>
            <a:ext cx="4160520" cy="41605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4b_tournaments_champ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131" y="694944"/>
            <a:ext cx="3813137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0040" y="4910328"/>
            <a:ext cx="4160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A5F8C"/>
                </a:solidFill>
                <a:latin typeface="Calibri"/>
              </a:rPr>
              <a:t>Ход соревнования: выбор победителя в матче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4910328"/>
            <a:ext cx="4160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A5F8C"/>
                </a:solidFill>
                <a:latin typeface="Calibri"/>
              </a:rPr>
              <a:t>Итог: победитель турнира «1А»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5257800"/>
            <a:ext cx="8503920" cy="149047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" y="5367528"/>
            <a:ext cx="8284464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5F8C"/>
                </a:solidFill>
                <a:latin typeface="Calibri"/>
              </a:rPr>
              <a:t>Описание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Calibri"/>
              </a:rPr>
              <a:t>• Олимпийская сетка на 8 команд, тур «Пионербол».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Calibri"/>
              </a:rPr>
              <a:t>• Зелёная кнопка «Победитель» — команда переходит в следующий тур.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Calibri"/>
              </a:rPr>
              <a:t>• После финала отображается блок с чемпионом и анимацией.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8138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Апробация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7955279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E293B"/>
                </a:solidFill>
                <a:latin typeface="Calibri"/>
              </a:rPr>
              <a:t>Тестовые классы 1А–4Б, ученики обоих полов.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E293B"/>
                </a:solidFill>
                <a:latin typeface="Calibri"/>
              </a:rPr>
              <a:t>Сверка очков с эталонной таблицей Excel — совпадение.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E293B"/>
                </a:solidFill>
                <a:latin typeface="Calibri"/>
              </a:rPr>
              <a:t>Рейтинг по параллели, печать журнала и турнира — успешно.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E293B"/>
                </a:solidFill>
                <a:latin typeface="Calibri"/>
              </a:rPr>
              <a:t>Ограничения: нет синхронизации между устройствами, нет интеграции с «Дневник.ru».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E293B"/>
                </a:solidFill>
                <a:latin typeface="Calibri"/>
              </a:rPr>
              <a:t>Перспектива: CSV, резервное копирование, серверное хранилище, Docker.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8138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Выводы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7955279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E293B"/>
                </a:solidFill>
                <a:latin typeface="Calibri"/>
              </a:rPr>
              <a:t>Обоснована необходимость специализированного веб-приложения для ФК.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E293B"/>
                </a:solidFill>
                <a:latin typeface="Calibri"/>
              </a:rPr>
              <a:t>Реализован прототип «Школьный журнал ФК» с предметной логикой.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E293B"/>
                </a:solidFill>
                <a:latin typeface="Calibri"/>
              </a:rPr>
              <a:t>Подтверждено соответствие требованиям на тестовых данных.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E293B"/>
                </a:solidFill>
                <a:latin typeface="Calibri"/>
              </a:rPr>
              <a:t>Практическая значимость: ежедневная работа учителя в браузере школы.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5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Спасибо за внимание!</a:t>
            </a:r>
          </a:p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
Готов ответить на вопросы комиссии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663</Words>
  <Application>Microsoft Macintosh PowerPoint</Application>
  <PresentationFormat>Экран (4:3)</PresentationFormat>
  <Paragraphs>104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Office</cp:lastModifiedBy>
  <cp:revision>2</cp:revision>
  <dcterms:created xsi:type="dcterms:W3CDTF">2013-01-27T09:14:16Z</dcterms:created>
  <dcterms:modified xsi:type="dcterms:W3CDTF">2026-05-25T16:26:44Z</dcterms:modified>
  <cp:category/>
</cp:coreProperties>
</file>